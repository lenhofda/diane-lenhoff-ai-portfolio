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slide" Target="slide17.xml"/><Relationship Id="rId4" Type="http://schemas.openxmlformats.org/officeDocument/2006/relationships/slide" Target="slide2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" Target="slide18.xml"/><Relationship Id="rId3" Type="http://schemas.openxmlformats.org/officeDocument/2006/relationships/slide" Target="slide29.xml"/><Relationship Id="rId4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19.xml"/><Relationship Id="rId4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0.xml"/><Relationship Id="rId4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1.xml"/><Relationship Id="rId4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2.xml"/><Relationship Id="rId4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3.xml"/><Relationship Id="rId3" Type="http://schemas.openxmlformats.org/officeDocument/2006/relationships/slide" Target="slide29.xml"/><Relationship Id="rId4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4.xml"/><Relationship Id="rId4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5.xml"/><Relationship Id="rId3" Type="http://schemas.openxmlformats.org/officeDocument/2006/relationships/slide" Target="slide29.xml"/><Relationship Id="rId4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6.xml"/><Relationship Id="rId4" Type="http://schemas.openxmlformats.org/officeDocument/2006/relationships/image" Target="../media/image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7.xml"/><Relationship Id="rId4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9.xml"/><Relationship Id="rId3" Type="http://schemas.openxmlformats.org/officeDocument/2006/relationships/slide" Target="slide28.xml"/><Relationship Id="rId4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8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5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6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3" Type="http://schemas.openxmlformats.org/officeDocument/2006/relationships/slide" Target="slide16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"SEGMENT IT" QUIZ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/>
            </a:lvl1pPr>
          </a:lstStyle>
          <a:p>
            <a:pPr/>
            <a:r>
              <a:t>Segment It! Quiz Instructions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Tx/>
              <a:buNone/>
              <a:defRPr b="1"/>
            </a:pPr>
            <a:r>
              <a:t>Goal:</a:t>
            </a:r>
            <a:br/>
            <a:r>
              <a:t> Identify the most appropriate image segmentation technique for each image.</a:t>
            </a:r>
          </a:p>
          <a:p>
            <a:pPr>
              <a:buSzTx/>
              <a:buNone/>
              <a:defRPr b="1"/>
            </a:pPr>
            <a:r>
              <a:t>How to Play:</a:t>
            </a:r>
          </a:p>
          <a:p>
            <a:pPr/>
            <a:r>
              <a:t>Look at the image shown on each slide.</a:t>
            </a:r>
          </a:p>
          <a:p>
            <a:pPr/>
            <a:r>
              <a:t>Read the question.</a:t>
            </a:r>
          </a:p>
          <a:p>
            <a:pPr/>
            <a:r>
              <a:t>Click the segmentation technique you think works best.</a:t>
            </a:r>
          </a:p>
          <a:p>
            <a:pPr/>
            <a:r>
              <a:t>You will receive immediate feedback.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Technique Reference (Cheat Sheet)</a:t>
            </a:r>
          </a:p>
        </p:txBody>
      </p:sp>
      <p:sp>
        <p:nvSpPr>
          <p:cNvPr id="10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t>Thresholding – separates light and dark</a:t>
            </a:r>
          </a:p>
          <a:p>
            <a:pPr>
              <a:lnSpc>
                <a:spcPct val="81000"/>
              </a:lnSpc>
            </a:pPr>
          </a:p>
          <a:p>
            <a:pPr>
              <a:lnSpc>
                <a:spcPct val="81000"/>
              </a:lnSpc>
            </a:pPr>
            <a:r>
              <a:t>Edge Detection – finds boundaries</a:t>
            </a:r>
          </a:p>
          <a:p>
            <a:pPr>
              <a:lnSpc>
                <a:spcPct val="81000"/>
              </a:lnSpc>
            </a:pPr>
          </a:p>
          <a:p>
            <a:pPr>
              <a:lnSpc>
                <a:spcPct val="81000"/>
              </a:lnSpc>
            </a:pPr>
            <a:r>
              <a:t>Region-Based – groups neighboring pixels</a:t>
            </a:r>
          </a:p>
          <a:p>
            <a:pPr>
              <a:lnSpc>
                <a:spcPct val="81000"/>
              </a:lnSpc>
            </a:pPr>
          </a:p>
          <a:p>
            <a:pPr>
              <a:lnSpc>
                <a:spcPct val="81000"/>
              </a:lnSpc>
            </a:pPr>
            <a:r>
              <a:t>Clustering – groups similar pixels</a:t>
            </a:r>
          </a:p>
          <a:p>
            <a:pPr marL="0" indent="0">
              <a:lnSpc>
                <a:spcPct val="81000"/>
              </a:lnSpc>
              <a:buSzTx/>
              <a:buNone/>
            </a:pPr>
          </a:p>
          <a:p>
            <a:pPr marL="0" indent="0">
              <a:lnSpc>
                <a:spcPct val="81000"/>
              </a:lnSpc>
              <a:buSzTx/>
              <a:buNone/>
            </a:pPr>
            <a:r>
              <a:t>      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itle 1"/>
          <p:cNvSpPr txBox="1"/>
          <p:nvPr>
            <p:ph type="title"/>
          </p:nvPr>
        </p:nvSpPr>
        <p:spPr>
          <a:xfrm>
            <a:off x="630936" y="640080"/>
            <a:ext cx="4818889" cy="1481329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Quiz</a:t>
            </a:r>
          </a:p>
        </p:txBody>
      </p:sp>
      <p:grpSp>
        <p:nvGrpSpPr>
          <p:cNvPr id="106" name="sketch line"/>
          <p:cNvGrpSpPr/>
          <p:nvPr/>
        </p:nvGrpSpPr>
        <p:grpSpPr>
          <a:xfrm>
            <a:off x="643176" y="2357199"/>
            <a:ext cx="3255323" cy="46547"/>
            <a:chOff x="0" y="0"/>
            <a:chExt cx="3255321" cy="46546"/>
          </a:xfrm>
        </p:grpSpPr>
        <p:sp>
          <p:nvSpPr>
            <p:cNvPr id="104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5" name="Shape"/>
            <p:cNvSpPr/>
            <p:nvPr/>
          </p:nvSpPr>
          <p:spPr>
            <a:xfrm>
              <a:off x="-1" y="0"/>
              <a:ext cx="3255198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07" name="Content Placeholder 2"/>
          <p:cNvSpPr txBox="1"/>
          <p:nvPr>
            <p:ph type="body" sz="quarter" idx="1"/>
          </p:nvPr>
        </p:nvSpPr>
        <p:spPr>
          <a:xfrm>
            <a:off x="637130" y="4166318"/>
            <a:ext cx="4812695" cy="921141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200"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Start Quiz</a:t>
            </a:r>
          </a:p>
        </p:txBody>
      </p:sp>
      <p:sp>
        <p:nvSpPr>
          <p:cNvPr id="108" name="Arrow: Left 3"/>
          <p:cNvSpPr/>
          <p:nvPr/>
        </p:nvSpPr>
        <p:spPr>
          <a:xfrm rot="10800000">
            <a:off x="2368256" y="3975374"/>
            <a:ext cx="1354667" cy="64911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itle 1"/>
          <p:cNvSpPr txBox="1"/>
          <p:nvPr>
            <p:ph type="title"/>
          </p:nvPr>
        </p:nvSpPr>
        <p:spPr>
          <a:xfrm>
            <a:off x="640080" y="325368"/>
            <a:ext cx="4368603" cy="195684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 Mona Lisa</a:t>
            </a:r>
          </a:p>
        </p:txBody>
      </p:sp>
      <p:grpSp>
        <p:nvGrpSpPr>
          <p:cNvPr id="114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112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3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5" name="Content Placeholder 7"/>
          <p:cNvSpPr txBox="1"/>
          <p:nvPr>
            <p:ph type="body" sz="quarter" idx="1"/>
          </p:nvPr>
        </p:nvSpPr>
        <p:spPr>
          <a:xfrm>
            <a:off x="640080" y="2872899"/>
            <a:ext cx="4243590" cy="332066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200"/>
            </a:pPr>
            <a:r>
              <a:t>Which segmentation technique works best for this image?</a:t>
            </a:r>
          </a:p>
          <a:p>
            <a:pPr marL="0" indent="0">
              <a:buSzTx/>
              <a:buNone/>
              <a:defRPr sz="2200"/>
            </a:pPr>
            <a:r>
              <a:t>         </a:t>
            </a:r>
          </a:p>
        </p:txBody>
      </p:sp>
      <p:pic>
        <p:nvPicPr>
          <p:cNvPr id="116" name="Content Placeholder 3" descr="Content Placeholder 3"/>
          <p:cNvPicPr>
            <a:picLocks noChangeAspect="1"/>
          </p:cNvPicPr>
          <p:nvPr/>
        </p:nvPicPr>
        <p:blipFill>
          <a:blip r:embed="rId2">
            <a:extLst/>
          </a:blip>
          <a:srcRect l="0" t="0" r="1" b="30460"/>
          <a:stretch>
            <a:fillRect/>
          </a:stretch>
        </p:blipFill>
        <p:spPr>
          <a:xfrm>
            <a:off x="5720924" y="9"/>
            <a:ext cx="6469460" cy="64416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5" h="21600" fill="norm" stroke="1" extrusionOk="0">
                <a:moveTo>
                  <a:pt x="3456" y="0"/>
                </a:moveTo>
                <a:lnTo>
                  <a:pt x="3121" y="619"/>
                </a:lnTo>
                <a:cubicBezTo>
                  <a:pt x="2509" y="1805"/>
                  <a:pt x="1994" y="3042"/>
                  <a:pt x="1555" y="4318"/>
                </a:cubicBezTo>
                <a:cubicBezTo>
                  <a:pt x="871" y="6322"/>
                  <a:pt x="399" y="8392"/>
                  <a:pt x="147" y="10493"/>
                </a:cubicBezTo>
                <a:cubicBezTo>
                  <a:pt x="15" y="11569"/>
                  <a:pt x="-45" y="12643"/>
                  <a:pt x="38" y="13724"/>
                </a:cubicBezTo>
                <a:cubicBezTo>
                  <a:pt x="137" y="14989"/>
                  <a:pt x="286" y="16245"/>
                  <a:pt x="538" y="17489"/>
                </a:cubicBezTo>
                <a:cubicBezTo>
                  <a:pt x="816" y="18862"/>
                  <a:pt x="1193" y="20204"/>
                  <a:pt x="1691" y="21507"/>
                </a:cubicBezTo>
                <a:lnTo>
                  <a:pt x="1730" y="21600"/>
                </a:lnTo>
                <a:lnTo>
                  <a:pt x="1895" y="21600"/>
                </a:lnTo>
                <a:lnTo>
                  <a:pt x="1874" y="21548"/>
                </a:lnTo>
                <a:cubicBezTo>
                  <a:pt x="1598" y="20831"/>
                  <a:pt x="1357" y="20097"/>
                  <a:pt x="1146" y="19347"/>
                </a:cubicBezTo>
                <a:cubicBezTo>
                  <a:pt x="963" y="18694"/>
                  <a:pt x="827" y="18027"/>
                  <a:pt x="670" y="17367"/>
                </a:cubicBezTo>
                <a:cubicBezTo>
                  <a:pt x="667" y="17332"/>
                  <a:pt x="665" y="17297"/>
                  <a:pt x="665" y="17262"/>
                </a:cubicBezTo>
                <a:cubicBezTo>
                  <a:pt x="780" y="17662"/>
                  <a:pt x="871" y="18015"/>
                  <a:pt x="980" y="18364"/>
                </a:cubicBezTo>
                <a:cubicBezTo>
                  <a:pt x="1263" y="19271"/>
                  <a:pt x="1590" y="20152"/>
                  <a:pt x="1961" y="21009"/>
                </a:cubicBezTo>
                <a:lnTo>
                  <a:pt x="2236" y="21600"/>
                </a:lnTo>
                <a:lnTo>
                  <a:pt x="21555" y="21600"/>
                </a:lnTo>
                <a:lnTo>
                  <a:pt x="21555" y="0"/>
                </a:lnTo>
                <a:lnTo>
                  <a:pt x="3847" y="0"/>
                </a:lnTo>
                <a:lnTo>
                  <a:pt x="3545" y="468"/>
                </a:lnTo>
                <a:cubicBezTo>
                  <a:pt x="3132" y="1151"/>
                  <a:pt x="2758" y="1857"/>
                  <a:pt x="2416" y="2583"/>
                </a:cubicBezTo>
                <a:cubicBezTo>
                  <a:pt x="2399" y="2626"/>
                  <a:pt x="2371" y="2662"/>
                  <a:pt x="2335" y="2691"/>
                </a:cubicBezTo>
                <a:cubicBezTo>
                  <a:pt x="2381" y="2582"/>
                  <a:pt x="2426" y="2473"/>
                  <a:pt x="2473" y="2363"/>
                </a:cubicBezTo>
                <a:cubicBezTo>
                  <a:pt x="2664" y="1918"/>
                  <a:pt x="2867" y="1477"/>
                  <a:pt x="3081" y="1045"/>
                </a:cubicBezTo>
                <a:lnTo>
                  <a:pt x="3638" y="0"/>
                </a:lnTo>
                <a:lnTo>
                  <a:pt x="3456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17" name="TextBox 6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18" name="TextBox 9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119" name="TextBox 11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120" name="TextBox 13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121" name="Pentagon 14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Hexagon 15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Isosceles Triangle 2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5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Placeholder 3"/>
          <p:cNvSpPr txBox="1"/>
          <p:nvPr>
            <p:ph type="body" sz="quarter" idx="1"/>
          </p:nvPr>
        </p:nvSpPr>
        <p:spPr>
          <a:xfrm>
            <a:off x="839787" y="2057400"/>
            <a:ext cx="3932238" cy="1116367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pPr/>
            <a:r>
              <a:t>Which segmentation techniqueworks best for this image?</a:t>
            </a:r>
          </a:p>
        </p:txBody>
      </p:sp>
      <p:sp>
        <p:nvSpPr>
          <p:cNvPr id="127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Content Placeholder 7"/>
          <p:cNvSpPr txBox="1"/>
          <p:nvPr/>
        </p:nvSpPr>
        <p:spPr>
          <a:xfrm>
            <a:off x="36688" y="2209676"/>
            <a:ext cx="4159205" cy="4216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129" name="TextBox 9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30" name="TextBox 11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131" name="TextBox 13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132" name="TextBox 15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133" name="Pentagon 17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Hexagon 19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Isosceles Triangle 21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23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itle 25"/>
          <p:cNvSpPr txBox="1"/>
          <p:nvPr>
            <p:ph type="title"/>
          </p:nvPr>
        </p:nvSpPr>
        <p:spPr>
          <a:xfrm>
            <a:off x="-20990" y="457200"/>
            <a:ext cx="4793016" cy="1600200"/>
          </a:xfrm>
          <a:prstGeom prst="rect">
            <a:avLst/>
          </a:prstGeom>
        </p:spPr>
        <p:txBody>
          <a:bodyPr/>
          <a:lstStyle/>
          <a:p>
            <a:pPr/>
            <a:r>
              <a:t>Copied document</a:t>
            </a:r>
            <a:br/>
          </a:p>
        </p:txBody>
      </p:sp>
      <p:pic>
        <p:nvPicPr>
          <p:cNvPr id="138" name="Picture 27" descr="Picture 2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85402" y="1738932"/>
            <a:ext cx="7140680" cy="17332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141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Lungs</a:t>
            </a:r>
          </a:p>
        </p:txBody>
      </p:sp>
      <p:grpSp>
        <p:nvGrpSpPr>
          <p:cNvPr id="145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143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46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147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48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149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150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151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02851" y="1262829"/>
            <a:ext cx="5601314" cy="48731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158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Flower3</a:t>
            </a:r>
          </a:p>
        </p:txBody>
      </p:sp>
      <p:grpSp>
        <p:nvGrpSpPr>
          <p:cNvPr id="162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160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63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164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65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166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167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168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2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08759" y="964790"/>
            <a:ext cx="5512965" cy="54691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175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Land</a:t>
            </a:r>
          </a:p>
        </p:txBody>
      </p:sp>
      <p:grpSp>
        <p:nvGrpSpPr>
          <p:cNvPr id="179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177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0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181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82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183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184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185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68488" y="802557"/>
            <a:ext cx="4888475" cy="5824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192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Satellite Image</a:t>
            </a:r>
          </a:p>
        </p:txBody>
      </p:sp>
      <p:grpSp>
        <p:nvGrpSpPr>
          <p:cNvPr id="196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194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5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97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198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199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00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01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02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6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9938" y="1125007"/>
            <a:ext cx="6100234" cy="33944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09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2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10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1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13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214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215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16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17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18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2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29059" y="1031772"/>
            <a:ext cx="5928238" cy="4597809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Title 25"/>
          <p:cNvSpPr txBox="1"/>
          <p:nvPr/>
        </p:nvSpPr>
        <p:spPr>
          <a:xfrm>
            <a:off x="24730" y="457200"/>
            <a:ext cx="4701575" cy="160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Coins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26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Space</a:t>
            </a:r>
          </a:p>
        </p:txBody>
      </p:sp>
      <p:grpSp>
        <p:nvGrpSpPr>
          <p:cNvPr id="230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28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9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31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 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232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233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34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35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36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7535" y="532478"/>
            <a:ext cx="5515285" cy="60757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43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Bar Code</a:t>
            </a:r>
          </a:p>
        </p:txBody>
      </p:sp>
      <p:grpSp>
        <p:nvGrpSpPr>
          <p:cNvPr id="247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45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6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48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249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250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51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52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53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57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50026" y="1931423"/>
            <a:ext cx="5829301" cy="2933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60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Microscope </a:t>
            </a:r>
          </a:p>
        </p:txBody>
      </p:sp>
      <p:grpSp>
        <p:nvGrpSpPr>
          <p:cNvPr id="264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62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3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65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266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267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68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69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70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74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11685" y="1028391"/>
            <a:ext cx="6771355" cy="51883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77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House </a:t>
            </a:r>
          </a:p>
        </p:txBody>
      </p:sp>
      <p:grpSp>
        <p:nvGrpSpPr>
          <p:cNvPr id="281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79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0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82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283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284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285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286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287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9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51164" y="726664"/>
            <a:ext cx="3819218" cy="5890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 2</a:t>
            </a:r>
          </a:p>
        </p:txBody>
      </p:sp>
      <p:sp>
        <p:nvSpPr>
          <p:cNvPr id="294" name="Rectangle 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itle 1"/>
          <p:cNvSpPr txBox="1"/>
          <p:nvPr/>
        </p:nvSpPr>
        <p:spPr>
          <a:xfrm>
            <a:off x="685800" y="325368"/>
            <a:ext cx="4277162" cy="1956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54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M&amp;Ms</a:t>
            </a:r>
          </a:p>
        </p:txBody>
      </p:sp>
      <p:grpSp>
        <p:nvGrpSpPr>
          <p:cNvPr id="298" name="sketchy line"/>
          <p:cNvGrpSpPr/>
          <p:nvPr/>
        </p:nvGrpSpPr>
        <p:grpSpPr>
          <a:xfrm>
            <a:off x="639805" y="2575166"/>
            <a:ext cx="3474996" cy="45962"/>
            <a:chOff x="0" y="0"/>
            <a:chExt cx="3474994" cy="45961"/>
          </a:xfrm>
        </p:grpSpPr>
        <p:sp>
          <p:nvSpPr>
            <p:cNvPr id="296" name="Shape"/>
            <p:cNvSpPr/>
            <p:nvPr/>
          </p:nvSpPr>
          <p:spPr>
            <a:xfrm>
              <a:off x="0" y="1960"/>
              <a:ext cx="3474995" cy="42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14788" fill="norm" stroke="1" extrusionOk="0">
                  <a:moveTo>
                    <a:pt x="1" y="3447"/>
                  </a:moveTo>
                  <a:cubicBezTo>
                    <a:pt x="1259" y="-1694"/>
                    <a:pt x="2069" y="-570"/>
                    <a:pt x="3889" y="3447"/>
                  </a:cubicBezTo>
                  <a:cubicBezTo>
                    <a:pt x="5708" y="7465"/>
                    <a:pt x="6817" y="5237"/>
                    <a:pt x="8640" y="3447"/>
                  </a:cubicBezTo>
                  <a:cubicBezTo>
                    <a:pt x="10462" y="1657"/>
                    <a:pt x="11412" y="-1457"/>
                    <a:pt x="12311" y="3447"/>
                  </a:cubicBezTo>
                  <a:cubicBezTo>
                    <a:pt x="13210" y="8352"/>
                    <a:pt x="14893" y="931"/>
                    <a:pt x="15982" y="3447"/>
                  </a:cubicBezTo>
                  <a:cubicBezTo>
                    <a:pt x="17071" y="5964"/>
                    <a:pt x="18905" y="-758"/>
                    <a:pt x="21597" y="3447"/>
                  </a:cubicBezTo>
                  <a:cubicBezTo>
                    <a:pt x="21596" y="4986"/>
                    <a:pt x="21596" y="6935"/>
                    <a:pt x="21597" y="9836"/>
                  </a:cubicBezTo>
                  <a:cubicBezTo>
                    <a:pt x="20666" y="11090"/>
                    <a:pt x="19497" y="7845"/>
                    <a:pt x="17494" y="9836"/>
                  </a:cubicBezTo>
                  <a:cubicBezTo>
                    <a:pt x="15491" y="11828"/>
                    <a:pt x="14261" y="19906"/>
                    <a:pt x="13391" y="9836"/>
                  </a:cubicBezTo>
                  <a:cubicBezTo>
                    <a:pt x="12520" y="-233"/>
                    <a:pt x="11315" y="15292"/>
                    <a:pt x="9287" y="9836"/>
                  </a:cubicBezTo>
                  <a:cubicBezTo>
                    <a:pt x="7260" y="4381"/>
                    <a:pt x="5896" y="8642"/>
                    <a:pt x="4536" y="9836"/>
                  </a:cubicBezTo>
                  <a:cubicBezTo>
                    <a:pt x="3177" y="11031"/>
                    <a:pt x="1642" y="11956"/>
                    <a:pt x="1" y="9836"/>
                  </a:cubicBezTo>
                  <a:cubicBezTo>
                    <a:pt x="3" y="8439"/>
                    <a:pt x="-3" y="4756"/>
                    <a:pt x="1" y="3447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7" name="Shape"/>
            <p:cNvSpPr/>
            <p:nvPr/>
          </p:nvSpPr>
          <p:spPr>
            <a:xfrm>
              <a:off x="274" y="0"/>
              <a:ext cx="3474721" cy="45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3865" fill="norm" stroke="1" extrusionOk="0">
                  <a:moveTo>
                    <a:pt x="0" y="3568"/>
                  </a:moveTo>
                  <a:cubicBezTo>
                    <a:pt x="1395" y="-820"/>
                    <a:pt x="3080" y="11574"/>
                    <a:pt x="4320" y="3568"/>
                  </a:cubicBezTo>
                  <a:cubicBezTo>
                    <a:pt x="5560" y="-4438"/>
                    <a:pt x="7025" y="11023"/>
                    <a:pt x="8424" y="3568"/>
                  </a:cubicBezTo>
                  <a:cubicBezTo>
                    <a:pt x="9823" y="-3887"/>
                    <a:pt x="11314" y="11621"/>
                    <a:pt x="12528" y="3568"/>
                  </a:cubicBezTo>
                  <a:cubicBezTo>
                    <a:pt x="13742" y="-4485"/>
                    <a:pt x="14932" y="3618"/>
                    <a:pt x="17280" y="3568"/>
                  </a:cubicBezTo>
                  <a:cubicBezTo>
                    <a:pt x="19628" y="3518"/>
                    <a:pt x="20432" y="-1129"/>
                    <a:pt x="21600" y="3568"/>
                  </a:cubicBezTo>
                  <a:cubicBezTo>
                    <a:pt x="21597" y="5846"/>
                    <a:pt x="21597" y="6531"/>
                    <a:pt x="21600" y="9085"/>
                  </a:cubicBezTo>
                  <a:cubicBezTo>
                    <a:pt x="20103" y="12571"/>
                    <a:pt x="18308" y="1982"/>
                    <a:pt x="17280" y="9085"/>
                  </a:cubicBezTo>
                  <a:cubicBezTo>
                    <a:pt x="16252" y="16187"/>
                    <a:pt x="14545" y="10418"/>
                    <a:pt x="13608" y="9085"/>
                  </a:cubicBezTo>
                  <a:cubicBezTo>
                    <a:pt x="12671" y="7751"/>
                    <a:pt x="11298" y="2075"/>
                    <a:pt x="9504" y="9085"/>
                  </a:cubicBezTo>
                  <a:cubicBezTo>
                    <a:pt x="7710" y="16094"/>
                    <a:pt x="6480" y="14789"/>
                    <a:pt x="5400" y="9085"/>
                  </a:cubicBezTo>
                  <a:cubicBezTo>
                    <a:pt x="4320" y="3380"/>
                    <a:pt x="1450" y="17115"/>
                    <a:pt x="0" y="9085"/>
                  </a:cubicBezTo>
                  <a:cubicBezTo>
                    <a:pt x="0" y="7096"/>
                    <a:pt x="0" y="4701"/>
                    <a:pt x="0" y="3568"/>
                  </a:cubicBezTo>
                  <a:close/>
                </a:path>
              </a:pathLst>
            </a:custGeom>
            <a:noFill/>
            <a:ln w="4445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99" name="Content Placeholder 7"/>
          <p:cNvSpPr txBox="1"/>
          <p:nvPr/>
        </p:nvSpPr>
        <p:spPr>
          <a:xfrm>
            <a:off x="685800" y="2872899"/>
            <a:ext cx="4152149" cy="3320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Which segmentation technique works best for this image?</a:t>
            </a:r>
            <a:endParaRPr sz="2800"/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         </a:t>
            </a:r>
          </a:p>
        </p:txBody>
      </p:sp>
      <p:sp>
        <p:nvSpPr>
          <p:cNvPr id="300" name="TextBox 13"/>
          <p:cNvSpPr txBox="1"/>
          <p:nvPr/>
        </p:nvSpPr>
        <p:spPr>
          <a:xfrm>
            <a:off x="45719" y="4684888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Thresholding</a:t>
            </a:r>
          </a:p>
        </p:txBody>
      </p:sp>
      <p:sp>
        <p:nvSpPr>
          <p:cNvPr id="301" name="TextBox 15"/>
          <p:cNvSpPr txBox="1"/>
          <p:nvPr/>
        </p:nvSpPr>
        <p:spPr>
          <a:xfrm>
            <a:off x="102163" y="6251221"/>
            <a:ext cx="1601892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Edge Detection</a:t>
            </a:r>
          </a:p>
        </p:txBody>
      </p:sp>
      <p:sp>
        <p:nvSpPr>
          <p:cNvPr id="302" name="TextBox 17"/>
          <p:cNvSpPr txBox="1"/>
          <p:nvPr/>
        </p:nvSpPr>
        <p:spPr>
          <a:xfrm>
            <a:off x="2402274" y="472722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Region Base</a:t>
            </a:r>
          </a:p>
        </p:txBody>
      </p:sp>
      <p:sp>
        <p:nvSpPr>
          <p:cNvPr id="303" name="TextBox 19"/>
          <p:cNvSpPr txBox="1"/>
          <p:nvPr/>
        </p:nvSpPr>
        <p:spPr>
          <a:xfrm>
            <a:off x="2374051" y="6237111"/>
            <a:ext cx="1601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Clustering</a:t>
            </a:r>
          </a:p>
        </p:txBody>
      </p:sp>
      <p:sp>
        <p:nvSpPr>
          <p:cNvPr id="304" name="Pentagon 21"/>
          <p:cNvSpPr/>
          <p:nvPr/>
        </p:nvSpPr>
        <p:spPr>
          <a:xfrm>
            <a:off x="2758721" y="4085166"/>
            <a:ext cx="564445" cy="395112"/>
          </a:xfrm>
          <a:prstGeom prst="pentagon">
            <a:avLst/>
          </a:prstGeom>
          <a:solidFill>
            <a:srgbClr val="8ED973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Hexagon 23"/>
          <p:cNvSpPr/>
          <p:nvPr/>
        </p:nvSpPr>
        <p:spPr>
          <a:xfrm>
            <a:off x="2723444" y="5658554"/>
            <a:ext cx="451556" cy="479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Isosceles Triangle 25"/>
          <p:cNvSpPr/>
          <p:nvPr/>
        </p:nvSpPr>
        <p:spPr>
          <a:xfrm>
            <a:off x="418769" y="4092576"/>
            <a:ext cx="442452" cy="393291"/>
          </a:xfrm>
          <a:prstGeom prst="triangle">
            <a:avLst/>
          </a:prstGeom>
          <a:solidFill>
            <a:schemeClr val="accent1"/>
          </a:solidFill>
          <a:ln w="19050">
            <a:solidFill>
              <a:srgbClr val="09293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Rectangle 27"/>
          <p:cNvSpPr/>
          <p:nvPr/>
        </p:nvSpPr>
        <p:spPr>
          <a:xfrm>
            <a:off x="417272" y="5684323"/>
            <a:ext cx="414374" cy="48581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C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08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12044" y="734653"/>
            <a:ext cx="5460591" cy="52104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– Mona Lisa </a:t>
            </a:r>
          </a:p>
        </p:txBody>
      </p:sp>
      <p:sp>
        <p:nvSpPr>
          <p:cNvPr id="311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Mona Lisa - This image has clear contrast and even lighting, making thresholding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Copied Document</a:t>
            </a:r>
          </a:p>
        </p:txBody>
      </p:sp>
      <p:sp>
        <p:nvSpPr>
          <p:cNvPr id="314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Copied document - This image contains connected regions with similar intensity, making region-based segmentation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- Lungs</a:t>
            </a:r>
          </a:p>
        </p:txBody>
      </p:sp>
      <p:sp>
        <p:nvSpPr>
          <p:cNvPr id="31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Lungs - This image has clear contrast and even lighting, making thresholding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68680">
              <a:defRPr sz="4180"/>
            </a:lvl1pPr>
          </a:lstStyle>
          <a:p>
            <a:pPr/>
            <a:r>
              <a:t>Correct Feedback - Flower</a:t>
            </a:r>
          </a:p>
        </p:txBody>
      </p:sp>
      <p:sp>
        <p:nvSpPr>
          <p:cNvPr id="32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Flower - This image contains clear boundaries and sharp intensity changes, making edge-based segmentation the best choice.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Land</a:t>
            </a:r>
          </a:p>
        </p:txBody>
      </p:sp>
      <p:sp>
        <p:nvSpPr>
          <p:cNvPr id="32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Land - This image has clear contrast and even lighting, making thresholding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68680">
              <a:defRPr sz="4180"/>
            </a:lvl1pPr>
          </a:lstStyle>
          <a:p>
            <a:pPr/>
            <a:r>
              <a:t>Correct Feedback Sattelite Image</a:t>
            </a:r>
          </a:p>
        </p:txBody>
      </p:sp>
      <p:sp>
        <p:nvSpPr>
          <p:cNvPr id="32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Satellite Image - This image contains multiple colors or textures that can be grouped by similarity, making clustering the best choice.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Coins</a:t>
            </a:r>
          </a:p>
        </p:txBody>
      </p:sp>
      <p:sp>
        <p:nvSpPr>
          <p:cNvPr id="32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image has clear contrast and even lighting, making thresholding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68680">
              <a:defRPr sz="4180"/>
            </a:lvl1pPr>
          </a:lstStyle>
          <a:p>
            <a:pPr/>
            <a:r>
              <a:t>Correct Feedback Space Craft</a:t>
            </a:r>
          </a:p>
        </p:txBody>
      </p:sp>
      <p:sp>
        <p:nvSpPr>
          <p:cNvPr id="33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image contains clear boundaries and sharp intensity changes, making edge-based segmentation the best choice.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Bar code</a:t>
            </a:r>
          </a:p>
        </p:txBody>
      </p:sp>
      <p:sp>
        <p:nvSpPr>
          <p:cNvPr id="33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Bar code - his image has clear contrast and even lighting, making thresholding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68680">
              <a:defRPr sz="4180"/>
            </a:lvl1pPr>
          </a:lstStyle>
          <a:p>
            <a:pPr/>
            <a:r>
              <a:t>Correct Feedback microscope</a:t>
            </a:r>
          </a:p>
        </p:txBody>
      </p:sp>
      <p:sp>
        <p:nvSpPr>
          <p:cNvPr id="33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his image contains connected regions with similar intensity, making region-based segmentation the best choice. 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House</a:t>
            </a:r>
          </a:p>
        </p:txBody>
      </p:sp>
      <p:sp>
        <p:nvSpPr>
          <p:cNvPr id="341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House - This image contains clear boundaries and sharp intensity changes, making edge-based segmentation the best choice.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Correct Feedback M&amp;Ms</a:t>
            </a:r>
          </a:p>
        </p:txBody>
      </p:sp>
      <p:sp>
        <p:nvSpPr>
          <p:cNvPr id="344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M&amp;Ms - This image contains multiple colors or textures that can be grouped by similarity, making clustering the best choice.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Next Question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Try Again</a:t>
            </a:r>
          </a:p>
        </p:txBody>
      </p:sp>
      <p:sp>
        <p:nvSpPr>
          <p:cNvPr id="347" name="Content Placeholder 2"/>
          <p:cNvSpPr txBox="1"/>
          <p:nvPr>
            <p:ph type="body" idx="1"/>
          </p:nvPr>
        </p:nvSpPr>
        <p:spPr>
          <a:xfrm>
            <a:off x="838199" y="1825625"/>
            <a:ext cx="10872021" cy="469706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72000"/>
              </a:lnSpc>
              <a:buSzTx/>
              <a:buNone/>
              <a:defRPr sz="2100"/>
            </a:pPr>
            <a:r>
              <a:t>Not quite. Hint: Do we need boundaries, regions, or light vs dark?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Return to slide – 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 invalidUrl="" action="ppaction://hlinksldjump" tgtFrame="" tooltip="" history="1" highlightClick="0" endSnd="0"/>
              </a:rPr>
              <a:t>Mona Lisa</a:t>
            </a:r>
            <a:r>
              <a:t> 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3" invalidUrl="" action="ppaction://hlinksldjump" tgtFrame="" tooltip="" history="1" highlightClick="0" endSnd="0"/>
              </a:rPr>
              <a:t>Copied Document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4" invalidUrl="" action="ppaction://hlinksldjump" tgtFrame="" tooltip="" history="1" highlightClick="0" endSnd="0"/>
              </a:rPr>
              <a:t>Lungs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5" invalidUrl="" action="ppaction://hlinksldjump" tgtFrame="" tooltip="" history="1" highlightClick="0" endSnd="0"/>
              </a:rPr>
              <a:t>Flower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6" invalidUrl="" action="ppaction://hlinksldjump" tgtFrame="" tooltip="" history="1" highlightClick="0" endSnd="0"/>
              </a:rPr>
              <a:t>Land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7" invalidUrl="" action="ppaction://hlinksldjump" tgtFrame="" tooltip="" history="1" highlightClick="0" endSnd="0"/>
              </a:rPr>
              <a:t>Arial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8" invalidUrl="" action="ppaction://hlinksldjump" tgtFrame="" tooltip="" history="1" highlightClick="0" endSnd="0"/>
              </a:rPr>
              <a:t>Coins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9" invalidUrl="" action="ppaction://hlinksldjump" tgtFrame="" tooltip="" history="1" highlightClick="0" endSnd="0"/>
              </a:rPr>
              <a:t>Space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10" invalidUrl="" action="ppaction://hlinksldjump" tgtFrame="" tooltip="" history="1" highlightClick="0" endSnd="0"/>
              </a:rPr>
              <a:t>Bar code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11" invalidUrl="" action="ppaction://hlinksldjump" tgtFrame="" tooltip="" history="1" highlightClick="0" endSnd="0"/>
              </a:rPr>
              <a:t>Microscope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12" invalidUrl="" action="ppaction://hlinksldjump" tgtFrame="" tooltip="" history="1" highlightClick="0" endSnd="0"/>
              </a:rPr>
              <a:t>House</a:t>
            </a:r>
          </a:p>
          <a:p>
            <a:pPr marL="0" indent="0">
              <a:lnSpc>
                <a:spcPct val="72000"/>
              </a:lnSpc>
              <a:buSzTx/>
              <a:buNone/>
              <a:defRPr b="1" sz="2100"/>
            </a:pPr>
            <a:r>
              <a:t>       </a:t>
            </a: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13" invalidUrl="" action="ppaction://hlinksldjump" tgtFrame="" tooltip="" history="1" highlightClick="0" endSnd="0"/>
              </a:rPr>
              <a:t>M&amp;Ms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QUIZ COMPLETE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